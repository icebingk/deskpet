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2d44003ee8e4e2f" /><Relationship Type="http://schemas.openxmlformats.org/officeDocument/2006/relationships/extended-properties" Target="/docProps/app.xml" Id="Reec4a8bbed1b4b47" /><Relationship Type="http://schemas.openxmlformats.org/officeDocument/2006/relationships/officeDocument" Target="/ppt/presentation.xml" Id="R7342aaf19e7445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78cf6ca47b49e3"/>
  </p:sldMasterIdLst>
  <p:notesMasterIdLst>
    <p:notesMasterId xmlns:r="http://schemas.openxmlformats.org/officeDocument/2006/relationships" r:id="Rcbf0f2c51e3b4dad"/>
  </p:notesMasterIdLst>
  <p:sldIdLst>
    <p:sldId xmlns:r="http://schemas.openxmlformats.org/officeDocument/2006/relationships" id="256" r:id="R7017698fd4ad4b9c"/>
    <p:sldId xmlns:r="http://schemas.openxmlformats.org/officeDocument/2006/relationships" id="257" r:id="Rb5ab6633973e4fb1"/>
    <p:sldId xmlns:r="http://schemas.openxmlformats.org/officeDocument/2006/relationships" id="258" r:id="Rb351ea9dfb4c4d62"/>
    <p:sldId xmlns:r="http://schemas.openxmlformats.org/officeDocument/2006/relationships" id="259" r:id="R24286b1c5fb144f1"/>
    <p:sldId xmlns:r="http://schemas.openxmlformats.org/officeDocument/2006/relationships" id="260" r:id="R15e4d393e81c4a53"/>
    <p:sldId xmlns:r="http://schemas.openxmlformats.org/officeDocument/2006/relationships" id="261" r:id="R58a0a67f6fb04e9c"/>
    <p:sldId xmlns:r="http://schemas.openxmlformats.org/officeDocument/2006/relationships" id="262" r:id="Re96d2f5c82004bc0"/>
    <p:sldId xmlns:r="http://schemas.openxmlformats.org/officeDocument/2006/relationships" id="263" r:id="Rddbae819829c4c7a"/>
    <p:sldId xmlns:r="http://schemas.openxmlformats.org/officeDocument/2006/relationships" id="264" r:id="Ra74173c735dc46c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d34e9f8673348fd" /><Relationship Type="http://schemas.openxmlformats.org/officeDocument/2006/relationships/slideMaster" Target="/ppt/slideMasters/slideMaster1.xml" Id="R0d78cf6ca47b49e3" /><Relationship Type="http://schemas.openxmlformats.org/officeDocument/2006/relationships/notesMaster" Target="/ppt/notesMasters/notesMaster1.xml" Id="Rcbf0f2c51e3b4dad" /><Relationship Type="http://schemas.openxmlformats.org/officeDocument/2006/relationships/presProps" Target="/ppt/presProps.xml" Id="R9734384df1e34f56" /><Relationship Type="http://schemas.openxmlformats.org/officeDocument/2006/relationships/tableStyles" Target="/ppt/tableStyles.xml" Id="Rf07dc3fe7bd94de9" /><Relationship Type="http://schemas.openxmlformats.org/officeDocument/2006/relationships/slide" Target="/ppt/slides/slide1.xml" Id="R7017698fd4ad4b9c" /><Relationship Type="http://schemas.openxmlformats.org/officeDocument/2006/relationships/slide" Target="/ppt/slides/slide2.xml" Id="Rb5ab6633973e4fb1" /><Relationship Type="http://schemas.openxmlformats.org/officeDocument/2006/relationships/slide" Target="/ppt/slides/slide3.xml" Id="Rb351ea9dfb4c4d62" /><Relationship Type="http://schemas.openxmlformats.org/officeDocument/2006/relationships/slide" Target="/ppt/slides/slide4.xml" Id="R24286b1c5fb144f1" /><Relationship Type="http://schemas.openxmlformats.org/officeDocument/2006/relationships/slide" Target="/ppt/slides/slide5.xml" Id="R15e4d393e81c4a53" /><Relationship Type="http://schemas.openxmlformats.org/officeDocument/2006/relationships/slide" Target="/ppt/slides/slide6.xml" Id="R58a0a67f6fb04e9c" /><Relationship Type="http://schemas.openxmlformats.org/officeDocument/2006/relationships/slide" Target="/ppt/slides/slide7.xml" Id="Re96d2f5c82004bc0" /><Relationship Type="http://schemas.openxmlformats.org/officeDocument/2006/relationships/slide" Target="/ppt/slides/slide8.xml" Id="Rddbae819829c4c7a" /><Relationship Type="http://schemas.openxmlformats.org/officeDocument/2006/relationships/slide" Target="/ppt/slides/slide9.xml" Id="Ra74173c735dc46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5d39028f96b48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798951ecde4723" /><Relationship Type="http://schemas.openxmlformats.org/officeDocument/2006/relationships/notesMaster" Target="/ppt/notesMasters/notesMaster1.xml" Id="R72e9d35d071f4b2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36e6051d0fc43a4" /><Relationship Type="http://schemas.openxmlformats.org/officeDocument/2006/relationships/notesMaster" Target="/ppt/notesMasters/notesMaster1.xml" Id="R1bf42646fe7b445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65217f4bedc453d" /><Relationship Type="http://schemas.openxmlformats.org/officeDocument/2006/relationships/notesMaster" Target="/ppt/notesMasters/notesMaster1.xml" Id="Rac2771fadac941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9ad9cc0ecf4c0a" /><Relationship Type="http://schemas.openxmlformats.org/officeDocument/2006/relationships/notesMaster" Target="/ppt/notesMasters/notesMaster1.xml" Id="R6e300d17a8944a7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dee5c76a5ad4678" /><Relationship Type="http://schemas.openxmlformats.org/officeDocument/2006/relationships/notesMaster" Target="/ppt/notesMasters/notesMaster1.xml" Id="Rf4a27d1dbe1c464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01ae7bbadba4744" /><Relationship Type="http://schemas.openxmlformats.org/officeDocument/2006/relationships/notesMaster" Target="/ppt/notesMasters/notesMaster1.xml" Id="Raedb948853594a8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a61b66c20cd4c0a" /><Relationship Type="http://schemas.openxmlformats.org/officeDocument/2006/relationships/notesMaster" Target="/ppt/notesMasters/notesMaster1.xml" Id="R383772dd9fdf442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9d4bf1e9e6e4be5" /><Relationship Type="http://schemas.openxmlformats.org/officeDocument/2006/relationships/notesMaster" Target="/ppt/notesMasters/notesMaster1.xml" Id="R757f44669c7d4e5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782351ac2b54497" /><Relationship Type="http://schemas.openxmlformats.org/officeDocument/2006/relationships/notesMaster" Target="/ppt/notesMasters/notesMaster1.xml" Id="R1485cacde60e4a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Y:\Deskpet\README.md</a:t>
            </a:r>
          </a:p>
          <a:p xmlns:a="http://schemas.openxmlformats.org/drawingml/2006/main">
            <a:r>
              <a:t>- Image: Y:\Deskpet\pet_assets\core\119.gif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Y:\Deskpet\README.md</a:t>
            </a:r>
          </a:p>
          <a:p xmlns:a="http://schemas.openxmlformats.org/drawingml/2006/main">
            <a:r>
              <a:t>- Y:\Deskpet\action_manifest.json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Y:\Deskpet\README.md</a:t>
            </a:r>
          </a:p>
          <a:p xmlns:a="http://schemas.openxmlformats.org/drawingml/2006/main">
            <a:r>
              <a:t>- Image: Y:\Deskpet\pet_assets\core\018.gif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Y:\Deskpet\README.md</a:t>
            </a:r>
          </a:p>
          <a:p xmlns:a="http://schemas.openxmlformats.org/drawingml/2006/main">
            <a:r>
              <a:t>- Y:\Deskpet\deskpet\physics.py</a:t>
            </a:r>
          </a:p>
          <a:p xmlns:a="http://schemas.openxmlformats.org/drawingml/2006/main">
            <a:r>
              <a:t>- Y:\Deskpet\deskpet\window_win32.py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Y:\Deskpet\README.md</a:t>
            </a:r>
          </a:p>
          <a:p xmlns:a="http://schemas.openxmlformats.org/drawingml/2006/main">
            <a:r>
              <a:t>- Y:\Deskpet\action_manifest.json</a:t>
            </a:r>
          </a:p>
          <a:p xmlns:a="http://schemas.openxmlformats.org/drawingml/2006/main">
            <a:r>
              <a:t>- Image: Y:\Deskpet\pet_assets\core\160.gif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Y:\Deskpet\README.md</a:t>
            </a:r>
          </a:p>
          <a:p xmlns:a="http://schemas.openxmlformats.org/drawingml/2006/main">
            <a:r>
              <a:t>- Y:\Deskpet\deskpet\growth.py</a:t>
            </a:r>
          </a:p>
          <a:p xmlns:a="http://schemas.openxmlformats.org/drawingml/2006/main">
            <a:r>
              <a:t>- Y:\Deskpet\deskpet\control_panel.py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Y:\Deskpet\requirements.txt</a:t>
            </a:r>
          </a:p>
          <a:p xmlns:a="http://schemas.openxmlformats.org/drawingml/2006/main">
            <a:r>
              <a:t>- Y:\Deskpet\deskpet\app.py</a:t>
            </a:r>
          </a:p>
          <a:p xmlns:a="http://schemas.openxmlformats.org/drawingml/2006/main">
            <a:r>
              <a:t>- Image: Y:\Deskpet\pet_assets\core\115.gif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Y:\Deskpet\README.md</a:t>
            </a:r>
          </a:p>
          <a:p xmlns:a="http://schemas.openxmlformats.org/drawingml/2006/main">
            <a:r>
              <a:t>- Y:\Deskpet\dist\线条小狗桌宠.exe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Y:\Deskpet\README.md</a:t>
            </a:r>
          </a:p>
          <a:p xmlns:a="http://schemas.openxmlformats.org/drawingml/2006/main">
            <a:r>
              <a:t>- Image: Y:\Deskpet\pet_assets\core\164.gif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0233134d4549d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ead19d4aa347de" /><Relationship Type="http://schemas.openxmlformats.org/officeDocument/2006/relationships/slideLayout" Target="/ppt/slideLayouts/slideLayout1.xml" Id="R7fdc32d924b9479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fdc32d924b9479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23d9985c4945ff" /><Relationship Type="http://schemas.openxmlformats.org/officeDocument/2006/relationships/image" Target="/ppt/media/image.png" Id="R424a6e59784741d1" /><Relationship Type="http://schemas.openxmlformats.org/officeDocument/2006/relationships/notesSlide" Target="/ppt/notesSlides/notesSlide1.xml" Id="R891b361044dd4c5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7c031285da4049" /><Relationship Type="http://schemas.openxmlformats.org/officeDocument/2006/relationships/notesSlide" Target="/ppt/notesSlides/notesSlide2.xml" Id="Reff6832eb241449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4a03c9dd2c45b6" /><Relationship Type="http://schemas.openxmlformats.org/officeDocument/2006/relationships/image" Target="/ppt/media/image2.png" Id="R23479e4cdac143bf" /><Relationship Type="http://schemas.openxmlformats.org/officeDocument/2006/relationships/notesSlide" Target="/ppt/notesSlides/notesSlide3.xml" Id="Rde2a45fa4d01439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1e764dad954013" /><Relationship Type="http://schemas.openxmlformats.org/officeDocument/2006/relationships/notesSlide" Target="/ppt/notesSlides/notesSlide4.xml" Id="R0f8c868fd684454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b052862bdf4a33" /><Relationship Type="http://schemas.openxmlformats.org/officeDocument/2006/relationships/image" Target="/ppt/media/image3.png" Id="R72d2c6e9ad2a47b8" /><Relationship Type="http://schemas.openxmlformats.org/officeDocument/2006/relationships/notesSlide" Target="/ppt/notesSlides/notesSlide5.xml" Id="Rce6ef5f18d2b466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559a48f97745f7" /><Relationship Type="http://schemas.openxmlformats.org/officeDocument/2006/relationships/notesSlide" Target="/ppt/notesSlides/notesSlide6.xml" Id="Rcdc9f2c7f13d470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8cddbb90024773" /><Relationship Type="http://schemas.openxmlformats.org/officeDocument/2006/relationships/image" Target="/ppt/media/image4.png" Id="R066f4dd4bbe34728" /><Relationship Type="http://schemas.openxmlformats.org/officeDocument/2006/relationships/notesSlide" Target="/ppt/notesSlides/notesSlide7.xml" Id="Rc7bfd6212b714a5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fffff83ffc4eff" /><Relationship Type="http://schemas.openxmlformats.org/officeDocument/2006/relationships/notesSlide" Target="/ppt/notesSlides/notesSlide8.xml" Id="Rbf308f05c344496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b6b7a2c9e34d6f" /><Relationship Type="http://schemas.openxmlformats.org/officeDocument/2006/relationships/image" Target="/ppt/media/image5.png" Id="R0ffe72f5e7c7484f" /><Relationship Type="http://schemas.openxmlformats.org/officeDocument/2006/relationships/notesSlide" Target="/ppt/notesSlides/notesSlide9.xml" Id="R7d2ea459fc004b9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085C50E-3ABD-48B9-BEB4-24E06EBC9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819150"/>
            <a:ext cx="5191125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线条小狗桌宠</a:t>
            </a:r>
          </a:p>
        </p:txBody>
      </p:sp>
      <p:sp>
        <p:nvSpPr>
          <p:cNvPr id="2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5EC9CDF-ACF6-4F4D-8222-51DFEF87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00375"/>
            <a:ext cx="5191125" cy="144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t>一个把动画、桌面物理、养成与效率工具融为一体的 Windows 2D 桌宠项目</a:t>
            </a:r>
          </a:p>
        </p:txBody>
      </p:sp>
      <p:sp>
        <p:nvSpPr>
          <p:cNvPr id="3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0BC5926B-EEC7-4D04-938E-6D9E72A46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429250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PROJECT INTRODUCTION</a:t>
            </a:r>
          </a:p>
        </p:txBody>
      </p:sp>
      <p:sp>
        <p:nvSpPr>
          <p:cNvPr id="4" name="线条小狗待机动作-backing">
            <a:extLst xmlns:a="http://schemas.openxmlformats.org/drawingml/2006/main">
              <a:ext uri="{FF2B5EF4-FFF2-40B4-BE49-F238E27FC236}">
                <a16:creationId xmlns:a16="http://schemas.microsoft.com/office/drawing/2014/main" id="{B7CABFFE-E1AB-4754-B31C-3AA7F5CB0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43550" cy="5600700"/>
          </a:xfrm>
          <a:prstGeom xmlns:a="http://schemas.openxmlformats.org/drawingml/2006/main" prst="roundRect">
            <a:avLst>
              <a:gd name="adj" fmla="val 309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4a6e59784741d1"/>
          <a:stretch xmlns:a="http://schemas.openxmlformats.org/drawingml/2006/main"/>
        </p:blipFill>
        <p:spPr>
          <a:xfrm xmlns:a="http://schemas.openxmlformats.org/drawingml/2006/main">
            <a:off x="6267450" y="521018"/>
            <a:ext cx="5543550" cy="5358765"/>
          </a:xfrm>
          <a:prstGeom xmlns:a="http://schemas.openxmlformats.org/drawingml/2006/main" prst="roundRect">
            <a:avLst>
              <a:gd name="adj" fmla="val 3093"/>
            </a:avLst>
          </a:prstGeom>
        </p:spPr>
      </p:pic>
      <p:sp>
        <p:nvSpPr>
          <p:cNvPr id="6" name="footer-label-1">
            <a:extLst xmlns:a="http://schemas.openxmlformats.org/drawingml/2006/main">
              <a:ext uri="{FF2B5EF4-FFF2-40B4-BE49-F238E27FC236}">
                <a16:creationId xmlns:a16="http://schemas.microsoft.com/office/drawing/2014/main" id="{8B04258E-66DA-430E-A8B6-709E6545A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2476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DESKPET PROJECT</a:t>
            </a:r>
          </a:p>
        </p:txBody>
      </p:sp>
      <p:sp>
        <p:nvSpPr>
          <p:cNvPr id="7" name="footer-number-1">
            <a:extLst xmlns:a="http://schemas.openxmlformats.org/drawingml/2006/main">
              <a:ext uri="{FF2B5EF4-FFF2-40B4-BE49-F238E27FC236}">
                <a16:creationId xmlns:a16="http://schemas.microsoft.com/office/drawing/2014/main" id="{9CC2F3BA-73FC-4DC6-85F6-15747DF0F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093150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2">
            <a:extLst xmlns:a="http://schemas.openxmlformats.org/drawingml/2006/main">
              <a:ext uri="{FF2B5EF4-FFF2-40B4-BE49-F238E27FC236}">
                <a16:creationId xmlns:a16="http://schemas.microsoft.com/office/drawing/2014/main" id="{94CDD61D-08CE-407F-802D-4B95F02BC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它把桌面装饰升级成可交互的常驻应用</a:t>
            </a:r>
          </a:p>
        </p:txBody>
      </p:sp>
      <p:sp>
        <p:nvSpPr>
          <p:cNvPr id="2" name="topic-2">
            <a:extLst xmlns:a="http://schemas.openxmlformats.org/drawingml/2006/main">
              <a:ext uri="{FF2B5EF4-FFF2-40B4-BE49-F238E27FC236}">
                <a16:creationId xmlns:a16="http://schemas.microsoft.com/office/drawing/2014/main" id="{6DA38DDE-EC06-4B80-9811-701EC9806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410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项目规模</a:t>
            </a:r>
          </a:p>
        </p:txBody>
      </p:sp>
      <p:sp>
        <p:nvSpPr>
          <p:cNvPr id="3" name="detail-2">
            <a:extLst xmlns:a="http://schemas.openxmlformats.org/drawingml/2006/main">
              <a:ext uri="{FF2B5EF4-FFF2-40B4-BE49-F238E27FC236}">
                <a16:creationId xmlns:a16="http://schemas.microsoft.com/office/drawing/2014/main" id="{04A45179-F21E-438D-AE34-C9DED1D41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09750"/>
            <a:ext cx="114109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t>角色素材、行为调度和桌面能力已经形成完整闭环，不再只是播放一张 GIF。</a:t>
            </a:r>
          </a:p>
        </p:txBody>
      </p:sp>
      <p:sp>
        <p:nvSpPr>
          <p:cNvPr id="4" name="metric-panel-2-1">
            <a:extLst xmlns:a="http://schemas.openxmlformats.org/drawingml/2006/main">
              <a:ext uri="{FF2B5EF4-FFF2-40B4-BE49-F238E27FC236}">
                <a16:creationId xmlns:a16="http://schemas.microsoft.com/office/drawing/2014/main" id="{8A544E6C-5AC5-45B2-9771-3948F5DE1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19425"/>
            <a:ext cx="3571875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etric-panel-2-2">
            <a:extLst xmlns:a="http://schemas.openxmlformats.org/drawingml/2006/main">
              <a:ext uri="{FF2B5EF4-FFF2-40B4-BE49-F238E27FC236}">
                <a16:creationId xmlns:a16="http://schemas.microsoft.com/office/drawing/2014/main" id="{E41D556D-E70D-498C-BEAD-E8DF28E1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019425"/>
            <a:ext cx="3571875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etric-panel-2-3">
            <a:extLst xmlns:a="http://schemas.openxmlformats.org/drawingml/2006/main">
              <a:ext uri="{FF2B5EF4-FFF2-40B4-BE49-F238E27FC236}">
                <a16:creationId xmlns:a16="http://schemas.microsoft.com/office/drawing/2014/main" id="{43D81FD6-A202-47CE-B829-CDFBB859D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19425"/>
            <a:ext cx="3571875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etric-value-2-1">
            <a:extLst xmlns:a="http://schemas.openxmlformats.org/drawingml/2006/main">
              <a:ext uri="{FF2B5EF4-FFF2-40B4-BE49-F238E27FC236}">
                <a16:creationId xmlns:a16="http://schemas.microsoft.com/office/drawing/2014/main" id="{F5C24CB1-A595-413E-A9B4-657D3759C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429000"/>
            <a:ext cx="29527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61</a:t>
            </a:r>
          </a:p>
        </p:txBody>
      </p:sp>
      <p:sp>
        <p:nvSpPr>
          <p:cNvPr id="8" name="metric-label-2-1">
            <a:extLst xmlns:a="http://schemas.openxmlformats.org/drawingml/2006/main">
              <a:ext uri="{FF2B5EF4-FFF2-40B4-BE49-F238E27FC236}">
                <a16:creationId xmlns:a16="http://schemas.microsoft.com/office/drawing/2014/main" id="{68264768-D29C-4472-9165-50172C34A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953000"/>
            <a:ext cx="29337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个核心 GIF
驱动当前运行时动作</a:t>
            </a:r>
          </a:p>
        </p:txBody>
      </p:sp>
      <p:sp>
        <p:nvSpPr>
          <p:cNvPr id="9" name="metric-value-2-2">
            <a:extLst xmlns:a="http://schemas.openxmlformats.org/drawingml/2006/main">
              <a:ext uri="{FF2B5EF4-FFF2-40B4-BE49-F238E27FC236}">
                <a16:creationId xmlns:a16="http://schemas.microsoft.com/office/drawing/2014/main" id="{3B32FCCB-FBB6-4F39-BFCE-AB077152F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429000"/>
            <a:ext cx="29527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202</a:t>
            </a:r>
          </a:p>
        </p:txBody>
      </p:sp>
      <p:sp>
        <p:nvSpPr>
          <p:cNvPr id="10" name="metric-label-2-2">
            <a:extLst xmlns:a="http://schemas.openxmlformats.org/drawingml/2006/main">
              <a:ext uri="{FF2B5EF4-FFF2-40B4-BE49-F238E27FC236}">
                <a16:creationId xmlns:a16="http://schemas.microsoft.com/office/drawing/2014/main" id="{896399FB-FC6C-4C43-A8F7-1A69C690F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953000"/>
            <a:ext cx="29337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个已整理 GIF
覆盖六类以上行为场景</a:t>
            </a:r>
          </a:p>
        </p:txBody>
      </p:sp>
      <p:sp>
        <p:nvSpPr>
          <p:cNvPr id="11" name="metric-value-2-3">
            <a:extLst xmlns:a="http://schemas.openxmlformats.org/drawingml/2006/main">
              <a:ext uri="{FF2B5EF4-FFF2-40B4-BE49-F238E27FC236}">
                <a16:creationId xmlns:a16="http://schemas.microsoft.com/office/drawing/2014/main" id="{C9DF7E23-256E-432D-845A-85ED40EB1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29000"/>
            <a:ext cx="29527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M1—M3</a:t>
            </a:r>
          </a:p>
        </p:txBody>
      </p:sp>
      <p:sp>
        <p:nvSpPr>
          <p:cNvPr id="12" name="metric-label-2-3">
            <a:extLst xmlns:a="http://schemas.openxmlformats.org/drawingml/2006/main">
              <a:ext uri="{FF2B5EF4-FFF2-40B4-BE49-F238E27FC236}">
                <a16:creationId xmlns:a16="http://schemas.microsoft.com/office/drawing/2014/main" id="{B3A447AB-4C86-4450-B705-91430D9AA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953000"/>
            <a:ext cx="29337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三个阶段已完成
从窗口核心走到工具面板</a:t>
            </a:r>
          </a:p>
        </p:txBody>
      </p:sp>
      <p:sp>
        <p:nvSpPr>
          <p:cNvPr id="13" name="footer-label-2">
            <a:extLst xmlns:a="http://schemas.openxmlformats.org/drawingml/2006/main">
              <a:ext uri="{FF2B5EF4-FFF2-40B4-BE49-F238E27FC236}">
                <a16:creationId xmlns:a16="http://schemas.microsoft.com/office/drawing/2014/main" id="{78A1F3B0-D6B5-44C6-9B8B-F9245B132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2476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DESKPET PROJECT</a:t>
            </a:r>
          </a:p>
        </p:txBody>
      </p:sp>
      <p:sp>
        <p:nvSpPr>
          <p:cNvPr id="14" name="footer-number-2">
            <a:extLst xmlns:a="http://schemas.openxmlformats.org/drawingml/2006/main">
              <a:ext uri="{FF2B5EF4-FFF2-40B4-BE49-F238E27FC236}">
                <a16:creationId xmlns:a16="http://schemas.microsoft.com/office/drawing/2014/main" id="{44655183-30D9-4DE6-BB05-FC639C642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2397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3">
            <a:extLst xmlns:a="http://schemas.openxmlformats.org/drawingml/2006/main">
              <a:ext uri="{FF2B5EF4-FFF2-40B4-BE49-F238E27FC236}">
                <a16:creationId xmlns:a16="http://schemas.microsoft.com/office/drawing/2014/main" id="{F123DE6E-279A-4ADA-800E-64E20C5DB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体验从“会动”开始，但价值来自“会回应”</a:t>
            </a:r>
          </a:p>
        </p:txBody>
      </p:sp>
      <p:sp>
        <p:nvSpPr>
          <p:cNvPr id="2" name="subhead-3">
            <a:extLst xmlns:a="http://schemas.openxmlformats.org/drawingml/2006/main">
              <a:ext uri="{FF2B5EF4-FFF2-40B4-BE49-F238E27FC236}">
                <a16:creationId xmlns:a16="http://schemas.microsoft.com/office/drawing/2014/main" id="{D35B93C0-916F-4DAD-A8B3-37FAE6B1F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38350"/>
            <a:ext cx="5191125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每一次触碰都有反馈</a:t>
            </a:r>
          </a:p>
        </p:txBody>
      </p:sp>
      <p:sp>
        <p:nvSpPr>
          <p:cNvPr id="3" name="body-3">
            <a:extLst xmlns:a="http://schemas.openxmlformats.org/drawingml/2006/main">
              <a:ext uri="{FF2B5EF4-FFF2-40B4-BE49-F238E27FC236}">
                <a16:creationId xmlns:a16="http://schemas.microsoft.com/office/drawing/2014/main" id="{AEBE3AE8-7876-4F8D-8A89-2037BDEE7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67050"/>
            <a:ext cx="5191125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t>单击会从互动动作中无重复抽取，并显示中文打字机气泡；拖动、滚轮缩放、边缘吸附和窗口碰撞，让角色真正进入桌面空间。</a:t>
            </a:r>
          </a:p>
        </p:txBody>
      </p:sp>
      <p:sp>
        <p:nvSpPr>
          <p:cNvPr id="4" name="线条小狗招手互动动作-backing">
            <a:extLst xmlns:a="http://schemas.openxmlformats.org/drawingml/2006/main">
              <a:ext uri="{FF2B5EF4-FFF2-40B4-BE49-F238E27FC236}">
                <a16:creationId xmlns:a16="http://schemas.microsoft.com/office/drawing/2014/main" id="{790B1097-468D-4BD0-A092-A59CD95FC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352550"/>
            <a:ext cx="5543550" cy="4648200"/>
          </a:xfrm>
          <a:prstGeom xmlns:a="http://schemas.openxmlformats.org/drawingml/2006/main" prst="roundRect">
            <a:avLst>
              <a:gd name="adj" fmla="val 368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479e4cdac143bf"/>
          <a:stretch xmlns:a="http://schemas.openxmlformats.org/drawingml/2006/main"/>
        </p:blipFill>
        <p:spPr>
          <a:xfrm xmlns:a="http://schemas.openxmlformats.org/drawingml/2006/main">
            <a:off x="6836806" y="1352550"/>
            <a:ext cx="4404839" cy="4648200"/>
          </a:xfrm>
          <a:prstGeom xmlns:a="http://schemas.openxmlformats.org/drawingml/2006/main" prst="roundRect">
            <a:avLst>
              <a:gd name="adj" fmla="val 3689"/>
            </a:avLst>
          </a:prstGeom>
        </p:spPr>
      </p:pic>
      <p:sp>
        <p:nvSpPr>
          <p:cNvPr id="6" name="footer-label-3">
            <a:extLst xmlns:a="http://schemas.openxmlformats.org/drawingml/2006/main">
              <a:ext uri="{FF2B5EF4-FFF2-40B4-BE49-F238E27FC236}">
                <a16:creationId xmlns:a16="http://schemas.microsoft.com/office/drawing/2014/main" id="{CAC0E13F-8346-4D18-ADC2-E65E697A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2476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DESKPET PROJECT</a:t>
            </a:r>
          </a:p>
        </p:txBody>
      </p:sp>
      <p:sp>
        <p:nvSpPr>
          <p:cNvPr id="7" name="footer-number-3">
            <a:extLst xmlns:a="http://schemas.openxmlformats.org/drawingml/2006/main">
              <a:ext uri="{FF2B5EF4-FFF2-40B4-BE49-F238E27FC236}">
                <a16:creationId xmlns:a16="http://schemas.microsoft.com/office/drawing/2014/main" id="{A62A980D-85E6-4DAB-ACAB-CE6F4F7C5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805184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4">
            <a:extLst xmlns:a="http://schemas.openxmlformats.org/drawingml/2006/main">
              <a:ext uri="{FF2B5EF4-FFF2-40B4-BE49-F238E27FC236}">
                <a16:creationId xmlns:a16="http://schemas.microsoft.com/office/drawing/2014/main" id="{4313F0D1-CB78-490A-ADE8-9873EB4AC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桌面物理让互动像在真实空间里发生</a:t>
            </a:r>
          </a:p>
        </p:txBody>
      </p:sp>
      <p:sp>
        <p:nvSpPr>
          <p:cNvPr id="2" name="subhead-4">
            <a:extLst xmlns:a="http://schemas.openxmlformats.org/drawingml/2006/main">
              <a:ext uri="{FF2B5EF4-FFF2-40B4-BE49-F238E27FC236}">
                <a16:creationId xmlns:a16="http://schemas.microsoft.com/office/drawing/2014/main" id="{3693FB28-DDCD-4055-B1A2-741A284B1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76400"/>
            <a:ext cx="5381625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角色不只是浮在最上层</a:t>
            </a:r>
          </a:p>
        </p:txBody>
      </p:sp>
      <p:sp>
        <p:nvSpPr>
          <p:cNvPr id="3" name="body-4">
            <a:extLst xmlns:a="http://schemas.openxmlformats.org/drawingml/2006/main">
              <a:ext uri="{FF2B5EF4-FFF2-40B4-BE49-F238E27FC236}">
                <a16:creationId xmlns:a16="http://schemas.microsoft.com/office/drawing/2014/main" id="{06885D04-4DB9-4474-99C8-401F4A788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971800"/>
            <a:ext cx="5381625" cy="2571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t>松手后自然下落，可站在普通窗口或任务栏上方；窗口移动、最小化或关闭后，桌宠会跟随或重新下落。</a:t>
            </a:r>
          </a:p>
        </p:txBody>
      </p:sp>
      <p:sp>
        <p:nvSpPr>
          <p:cNvPr id="4" name="check-4-1">
            <a:extLst xmlns:a="http://schemas.openxmlformats.org/drawingml/2006/main">
              <a:ext uri="{FF2B5EF4-FFF2-40B4-BE49-F238E27FC236}">
                <a16:creationId xmlns:a16="http://schemas.microsoft.com/office/drawing/2014/main" id="{7E727829-FC7E-4D5C-B451-BADEFE696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857500"/>
            <a:ext cx="285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5" name="label-4-1">
            <a:extLst xmlns:a="http://schemas.openxmlformats.org/drawingml/2006/main">
              <a:ext uri="{FF2B5EF4-FFF2-40B4-BE49-F238E27FC236}">
                <a16:creationId xmlns:a16="http://schemas.microsoft.com/office/drawing/2014/main" id="{BB37F66D-AEA4-44CF-A344-1379BE92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57500"/>
            <a:ext cx="3905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左键拖动与自然落地</a:t>
            </a:r>
          </a:p>
        </p:txBody>
      </p:sp>
      <p:sp>
        <p:nvSpPr>
          <p:cNvPr id="6" name="check-4-2">
            <a:extLst xmlns:a="http://schemas.openxmlformats.org/drawingml/2006/main">
              <a:ext uri="{FF2B5EF4-FFF2-40B4-BE49-F238E27FC236}">
                <a16:creationId xmlns:a16="http://schemas.microsoft.com/office/drawing/2014/main" id="{8EEE84F8-462F-4E23-940B-6F2E41F0A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486150"/>
            <a:ext cx="285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7" name="label-4-2">
            <a:extLst xmlns:a="http://schemas.openxmlformats.org/drawingml/2006/main">
              <a:ext uri="{FF2B5EF4-FFF2-40B4-BE49-F238E27FC236}">
                <a16:creationId xmlns:a16="http://schemas.microsoft.com/office/drawing/2014/main" id="{BC2BD0CF-FE35-48C4-802C-16E93B016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86150"/>
            <a:ext cx="3905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普通窗口顶部碰撞</a:t>
            </a:r>
          </a:p>
        </p:txBody>
      </p:sp>
      <p:sp>
        <p:nvSpPr>
          <p:cNvPr id="8" name="check-4-3">
            <a:extLst xmlns:a="http://schemas.openxmlformats.org/drawingml/2006/main">
              <a:ext uri="{FF2B5EF4-FFF2-40B4-BE49-F238E27FC236}">
                <a16:creationId xmlns:a16="http://schemas.microsoft.com/office/drawing/2014/main" id="{4723320E-0592-4FBE-A148-43ED0F2F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114800"/>
            <a:ext cx="285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9" name="label-4-3">
            <a:extLst xmlns:a="http://schemas.openxmlformats.org/drawingml/2006/main">
              <a:ext uri="{FF2B5EF4-FFF2-40B4-BE49-F238E27FC236}">
                <a16:creationId xmlns:a16="http://schemas.microsoft.com/office/drawing/2014/main" id="{356E0215-F15A-4B73-9700-43177F689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114800"/>
            <a:ext cx="3905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任务栏上方停靠</a:t>
            </a:r>
          </a:p>
        </p:txBody>
      </p:sp>
      <p:sp>
        <p:nvSpPr>
          <p:cNvPr id="10" name="check-4-4">
            <a:extLst xmlns:a="http://schemas.openxmlformats.org/drawingml/2006/main">
              <a:ext uri="{FF2B5EF4-FFF2-40B4-BE49-F238E27FC236}">
                <a16:creationId xmlns:a16="http://schemas.microsoft.com/office/drawing/2014/main" id="{E0F8EC67-A675-4C2B-86BD-4AEFE5BF7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743450"/>
            <a:ext cx="285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11" name="label-4-4">
            <a:extLst xmlns:a="http://schemas.openxmlformats.org/drawingml/2006/main">
              <a:ext uri="{FF2B5EF4-FFF2-40B4-BE49-F238E27FC236}">
                <a16:creationId xmlns:a16="http://schemas.microsoft.com/office/drawing/2014/main" id="{09ABC0C3-E38D-4E0D-B55D-8783CA277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743450"/>
            <a:ext cx="3905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左右边缘吸附探头</a:t>
            </a:r>
          </a:p>
        </p:txBody>
      </p:sp>
      <p:sp>
        <p:nvSpPr>
          <p:cNvPr id="12" name="check-4-5">
            <a:extLst xmlns:a="http://schemas.openxmlformats.org/drawingml/2006/main">
              <a:ext uri="{FF2B5EF4-FFF2-40B4-BE49-F238E27FC236}">
                <a16:creationId xmlns:a16="http://schemas.microsoft.com/office/drawing/2014/main" id="{6E9B983B-3852-42A1-9962-99D591A0E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372100"/>
            <a:ext cx="285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13" name="label-4-5">
            <a:extLst xmlns:a="http://schemas.openxmlformats.org/drawingml/2006/main">
              <a:ext uri="{FF2B5EF4-FFF2-40B4-BE49-F238E27FC236}">
                <a16:creationId xmlns:a16="http://schemas.microsoft.com/office/drawing/2014/main" id="{EA42C23E-A22C-448F-B4DC-A2C7454CB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372100"/>
            <a:ext cx="3905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多显示器可见区域保护</a:t>
            </a:r>
          </a:p>
        </p:txBody>
      </p:sp>
      <p:sp>
        <p:nvSpPr>
          <p:cNvPr id="14" name="footer-label-4">
            <a:extLst xmlns:a="http://schemas.openxmlformats.org/drawingml/2006/main">
              <a:ext uri="{FF2B5EF4-FFF2-40B4-BE49-F238E27FC236}">
                <a16:creationId xmlns:a16="http://schemas.microsoft.com/office/drawing/2014/main" id="{775306E3-280B-4646-8EB0-C89C168EB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2476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DESKPET PROJECT</a:t>
            </a:r>
          </a:p>
        </p:txBody>
      </p:sp>
      <p:sp>
        <p:nvSpPr>
          <p:cNvPr id="15" name="footer-number-4">
            <a:extLst xmlns:a="http://schemas.openxmlformats.org/drawingml/2006/main">
              <a:ext uri="{FF2B5EF4-FFF2-40B4-BE49-F238E27FC236}">
                <a16:creationId xmlns:a16="http://schemas.microsoft.com/office/drawing/2014/main" id="{2A844733-27BC-43FC-B102-C1D70CBD6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252131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5">
            <a:extLst xmlns:a="http://schemas.openxmlformats.org/drawingml/2006/main">
              <a:ext uri="{FF2B5EF4-FFF2-40B4-BE49-F238E27FC236}">
                <a16:creationId xmlns:a16="http://schemas.microsoft.com/office/drawing/2014/main" id="{017E0BF0-2330-4001-952F-4F1E645BE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分层调度让动作自然，而不是机械轮播</a:t>
            </a:r>
          </a:p>
        </p:txBody>
      </p:sp>
      <p:sp>
        <p:nvSpPr>
          <p:cNvPr id="2" name="subhead-5">
            <a:extLst xmlns:a="http://schemas.openxmlformats.org/drawingml/2006/main">
              <a:ext uri="{FF2B5EF4-FFF2-40B4-BE49-F238E27FC236}">
                <a16:creationId xmlns:a16="http://schemas.microsoft.com/office/drawing/2014/main" id="{A944FB4C-2902-457D-898D-85FA9C8D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38350"/>
            <a:ext cx="5191125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微动作、姿态、场景与移动各有节奏</a:t>
            </a:r>
          </a:p>
        </p:txBody>
      </p:sp>
      <p:sp>
        <p:nvSpPr>
          <p:cNvPr id="3" name="body-5">
            <a:extLst xmlns:a="http://schemas.openxmlformats.org/drawingml/2006/main">
              <a:ext uri="{FF2B5EF4-FFF2-40B4-BE49-F238E27FC236}">
                <a16:creationId xmlns:a16="http://schemas.microsoft.com/office/drawing/2014/main" id="{1FB40843-1381-4557-8078-B8F7319B5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67050"/>
            <a:ext cx="5191125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t>持续待机维持生命感；低频场景拉开变化；特殊动作设置冷却；睡眠先打哈欠，再转入双宠抱睡。方向敏感动作会按真实移动方向自动镜像。</a:t>
            </a:r>
          </a:p>
        </p:txBody>
      </p:sp>
      <p:sp>
        <p:nvSpPr>
          <p:cNvPr id="4" name="双宠抱着入睡动作-backing">
            <a:extLst xmlns:a="http://schemas.openxmlformats.org/drawingml/2006/main">
              <a:ext uri="{FF2B5EF4-FFF2-40B4-BE49-F238E27FC236}">
                <a16:creationId xmlns:a16="http://schemas.microsoft.com/office/drawing/2014/main" id="{C87F2E1C-48BE-4EAA-A585-DF9A1250A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352550"/>
            <a:ext cx="5543550" cy="4648200"/>
          </a:xfrm>
          <a:prstGeom xmlns:a="http://schemas.openxmlformats.org/drawingml/2006/main" prst="roundRect">
            <a:avLst>
              <a:gd name="adj" fmla="val 368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d2c6e9ad2a47b8"/>
          <a:stretch xmlns:a="http://schemas.openxmlformats.org/drawingml/2006/main"/>
        </p:blipFill>
        <p:spPr>
          <a:xfrm xmlns:a="http://schemas.openxmlformats.org/drawingml/2006/main">
            <a:off x="6501905" y="1352550"/>
            <a:ext cx="5074640" cy="4648200"/>
          </a:xfrm>
          <a:prstGeom xmlns:a="http://schemas.openxmlformats.org/drawingml/2006/main" prst="roundRect">
            <a:avLst>
              <a:gd name="adj" fmla="val 3689"/>
            </a:avLst>
          </a:prstGeom>
        </p:spPr>
      </p:pic>
      <p:sp>
        <p:nvSpPr>
          <p:cNvPr id="6" name="footer-label-5">
            <a:extLst xmlns:a="http://schemas.openxmlformats.org/drawingml/2006/main">
              <a:ext uri="{FF2B5EF4-FFF2-40B4-BE49-F238E27FC236}">
                <a16:creationId xmlns:a16="http://schemas.microsoft.com/office/drawing/2014/main" id="{62A36BC0-10E4-4C38-B7D7-6835057EC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2476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DESKPET PROJECT</a:t>
            </a:r>
          </a:p>
        </p:txBody>
      </p:sp>
      <p:sp>
        <p:nvSpPr>
          <p:cNvPr id="7" name="footer-number-5">
            <a:extLst xmlns:a="http://schemas.openxmlformats.org/drawingml/2006/main">
              <a:ext uri="{FF2B5EF4-FFF2-40B4-BE49-F238E27FC236}">
                <a16:creationId xmlns:a16="http://schemas.microsoft.com/office/drawing/2014/main" id="{36AA0FEF-61B6-44A3-AEF9-5B964CA52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715475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6">
            <a:extLst xmlns:a="http://schemas.openxmlformats.org/drawingml/2006/main">
              <a:ext uri="{FF2B5EF4-FFF2-40B4-BE49-F238E27FC236}">
                <a16:creationId xmlns:a16="http://schemas.microsoft.com/office/drawing/2014/main" id="{39517B08-2B30-4EFA-B38C-5C4E22C5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同一只宠物，同时承担陪伴与效率助理</a:t>
            </a:r>
          </a:p>
        </p:txBody>
      </p:sp>
      <p:sp>
        <p:nvSpPr>
          <p:cNvPr id="2" name="subhead-6">
            <a:extLst xmlns:a="http://schemas.openxmlformats.org/drawingml/2006/main">
              <a:ext uri="{FF2B5EF4-FFF2-40B4-BE49-F238E27FC236}">
                <a16:creationId xmlns:a16="http://schemas.microsoft.com/office/drawing/2014/main" id="{C336FFBF-EAF5-43EE-B970-F6696277C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76400"/>
            <a:ext cx="5381625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养成系统提供长期反馈</a:t>
            </a:r>
          </a:p>
        </p:txBody>
      </p:sp>
      <p:sp>
        <p:nvSpPr>
          <p:cNvPr id="3" name="body-6">
            <a:extLst xmlns:a="http://schemas.openxmlformats.org/drawingml/2006/main">
              <a:ext uri="{FF2B5EF4-FFF2-40B4-BE49-F238E27FC236}">
                <a16:creationId xmlns:a16="http://schemas.microsoft.com/office/drawing/2014/main" id="{2ECA5604-F45C-4662-BE59-B06772959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971800"/>
            <a:ext cx="5381625" cy="2571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t>饱腹、心情、清洁、健康与体力会随时间变化；不同活动会触发对应动画，并按时长完成数值结算。</a:t>
            </a:r>
          </a:p>
        </p:txBody>
      </p:sp>
      <p:sp>
        <p:nvSpPr>
          <p:cNvPr id="4" name="check-6-1">
            <a:extLst xmlns:a="http://schemas.openxmlformats.org/drawingml/2006/main">
              <a:ext uri="{FF2B5EF4-FFF2-40B4-BE49-F238E27FC236}">
                <a16:creationId xmlns:a16="http://schemas.microsoft.com/office/drawing/2014/main" id="{5C99513B-C1E5-4F1B-876D-942D3862E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857500"/>
            <a:ext cx="285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5" name="label-6-1">
            <a:extLst xmlns:a="http://schemas.openxmlformats.org/drawingml/2006/main">
              <a:ext uri="{FF2B5EF4-FFF2-40B4-BE49-F238E27FC236}">
                <a16:creationId xmlns:a16="http://schemas.microsoft.com/office/drawing/2014/main" id="{A8F5504C-6030-4259-BF66-DD2BCDC1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57500"/>
            <a:ext cx="3905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倒计时与 25/5 番茄钟</a:t>
            </a:r>
          </a:p>
        </p:txBody>
      </p:sp>
      <p:sp>
        <p:nvSpPr>
          <p:cNvPr id="6" name="check-6-2">
            <a:extLst xmlns:a="http://schemas.openxmlformats.org/drawingml/2006/main">
              <a:ext uri="{FF2B5EF4-FFF2-40B4-BE49-F238E27FC236}">
                <a16:creationId xmlns:a16="http://schemas.microsoft.com/office/drawing/2014/main" id="{7E04F2CA-AC24-46F6-84A5-3E382B6A3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486150"/>
            <a:ext cx="285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7" name="label-6-2">
            <a:extLst xmlns:a="http://schemas.openxmlformats.org/drawingml/2006/main">
              <a:ext uri="{FF2B5EF4-FFF2-40B4-BE49-F238E27FC236}">
                <a16:creationId xmlns:a16="http://schemas.microsoft.com/office/drawing/2014/main" id="{CB88ECB1-202B-4ED2-B377-0FB8C3B81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86150"/>
            <a:ext cx="3905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久坐、喝水与护眼提醒</a:t>
            </a:r>
          </a:p>
        </p:txBody>
      </p:sp>
      <p:sp>
        <p:nvSpPr>
          <p:cNvPr id="8" name="check-6-3">
            <a:extLst xmlns:a="http://schemas.openxmlformats.org/drawingml/2006/main">
              <a:ext uri="{FF2B5EF4-FFF2-40B4-BE49-F238E27FC236}">
                <a16:creationId xmlns:a16="http://schemas.microsoft.com/office/drawing/2014/main" id="{752E6B00-8E1C-4968-ADA0-1A88BD7ED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114800"/>
            <a:ext cx="285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9" name="label-6-3">
            <a:extLst xmlns:a="http://schemas.openxmlformats.org/drawingml/2006/main">
              <a:ext uri="{FF2B5EF4-FFF2-40B4-BE49-F238E27FC236}">
                <a16:creationId xmlns:a16="http://schemas.microsoft.com/office/drawing/2014/main" id="{2DA1D48E-89D1-4D40-87A4-17CF1B444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114800"/>
            <a:ext cx="3905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便签搜索、推迟与回收站</a:t>
            </a:r>
          </a:p>
        </p:txBody>
      </p:sp>
      <p:sp>
        <p:nvSpPr>
          <p:cNvPr id="10" name="check-6-4">
            <a:extLst xmlns:a="http://schemas.openxmlformats.org/drawingml/2006/main">
              <a:ext uri="{FF2B5EF4-FFF2-40B4-BE49-F238E27FC236}">
                <a16:creationId xmlns:a16="http://schemas.microsoft.com/office/drawing/2014/main" id="{7B085EEE-4EA1-4B09-AEB5-947795565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743450"/>
            <a:ext cx="285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11" name="label-6-4">
            <a:extLst xmlns:a="http://schemas.openxmlformats.org/drawingml/2006/main">
              <a:ext uri="{FF2B5EF4-FFF2-40B4-BE49-F238E27FC236}">
                <a16:creationId xmlns:a16="http://schemas.microsoft.com/office/drawing/2014/main" id="{10788141-7B42-4063-875B-B6418C073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743450"/>
            <a:ext cx="3905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CPU、内存、电池与网络监测</a:t>
            </a:r>
          </a:p>
        </p:txBody>
      </p:sp>
      <p:sp>
        <p:nvSpPr>
          <p:cNvPr id="12" name="check-6-5">
            <a:extLst xmlns:a="http://schemas.openxmlformats.org/drawingml/2006/main">
              <a:ext uri="{FF2B5EF4-FFF2-40B4-BE49-F238E27FC236}">
                <a16:creationId xmlns:a16="http://schemas.microsoft.com/office/drawing/2014/main" id="{9122CF92-B5E2-4A7A-84F3-6214B52F4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372100"/>
            <a:ext cx="285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13" name="label-6-5">
            <a:extLst xmlns:a="http://schemas.openxmlformats.org/drawingml/2006/main">
              <a:ext uri="{FF2B5EF4-FFF2-40B4-BE49-F238E27FC236}">
                <a16:creationId xmlns:a16="http://schemas.microsoft.com/office/drawing/2014/main" id="{357AA972-50BB-4A8B-96B1-48A197C77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372100"/>
            <a:ext cx="3905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4768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计算器、记事本、截图与资源管理器</a:t>
            </a:r>
          </a:p>
        </p:txBody>
      </p:sp>
      <p:sp>
        <p:nvSpPr>
          <p:cNvPr id="14" name="footer-label-6">
            <a:extLst xmlns:a="http://schemas.openxmlformats.org/drawingml/2006/main">
              <a:ext uri="{FF2B5EF4-FFF2-40B4-BE49-F238E27FC236}">
                <a16:creationId xmlns:a16="http://schemas.microsoft.com/office/drawing/2014/main" id="{5F858344-F6AB-4A7D-93F6-286B40C19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2476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DESKPET PROJECT</a:t>
            </a:r>
          </a:p>
        </p:txBody>
      </p:sp>
      <p:sp>
        <p:nvSpPr>
          <p:cNvPr id="15" name="footer-number-6">
            <a:extLst xmlns:a="http://schemas.openxmlformats.org/drawingml/2006/main">
              <a:ext uri="{FF2B5EF4-FFF2-40B4-BE49-F238E27FC236}">
                <a16:creationId xmlns:a16="http://schemas.microsoft.com/office/drawing/2014/main" id="{D2C957FA-541F-4577-95D6-E9E91DE19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80654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7">
            <a:extLst xmlns:a="http://schemas.openxmlformats.org/drawingml/2006/main">
              <a:ext uri="{FF2B5EF4-FFF2-40B4-BE49-F238E27FC236}">
                <a16:creationId xmlns:a16="http://schemas.microsoft.com/office/drawing/2014/main" id="{4420FCFF-571C-4D88-B08F-C26CD39E1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Python 主循环串起动画、物理、状态和 Win32 能力</a:t>
            </a:r>
          </a:p>
        </p:txBody>
      </p:sp>
      <p:sp>
        <p:nvSpPr>
          <p:cNvPr id="2" name="subhead-7">
            <a:extLst xmlns:a="http://schemas.openxmlformats.org/drawingml/2006/main">
              <a:ext uri="{FF2B5EF4-FFF2-40B4-BE49-F238E27FC236}">
                <a16:creationId xmlns:a16="http://schemas.microsoft.com/office/drawing/2014/main" id="{48AFBE75-94FC-4D94-9A72-8D7700D4F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38350"/>
            <a:ext cx="5191125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模块化结构降低功能耦合</a:t>
            </a:r>
          </a:p>
        </p:txBody>
      </p:sp>
      <p:sp>
        <p:nvSpPr>
          <p:cNvPr id="3" name="body-7">
            <a:extLst xmlns:a="http://schemas.openxmlformats.org/drawingml/2006/main">
              <a:ext uri="{FF2B5EF4-FFF2-40B4-BE49-F238E27FC236}">
                <a16:creationId xmlns:a16="http://schemas.microsoft.com/office/drawing/2014/main" id="{E4F78460-10FA-4764-A822-CDB10A567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67050"/>
            <a:ext cx="5191125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t>pygame-ce 负责窗口与渲染，Pillow 处理 GIF，psutil 提供系统监测。
动画、行为、物理、养成、持久化、提醒和控制面板分别封装，再由 DeskPetApp 统一调度。</a:t>
            </a:r>
          </a:p>
        </p:txBody>
      </p:sp>
      <p:sp>
        <p:nvSpPr>
          <p:cNvPr id="4" name="线条小狗在电脑前工作-backing">
            <a:extLst xmlns:a="http://schemas.openxmlformats.org/drawingml/2006/main">
              <a:ext uri="{FF2B5EF4-FFF2-40B4-BE49-F238E27FC236}">
                <a16:creationId xmlns:a16="http://schemas.microsoft.com/office/drawing/2014/main" id="{9212B900-0CCD-4C9C-B2F6-C7A52E51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352550"/>
            <a:ext cx="5543550" cy="4648200"/>
          </a:xfrm>
          <a:prstGeom xmlns:a="http://schemas.openxmlformats.org/drawingml/2006/main" prst="roundRect">
            <a:avLst>
              <a:gd name="adj" fmla="val 368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6f4dd4bbe34728"/>
          <a:stretch xmlns:a="http://schemas.openxmlformats.org/drawingml/2006/main"/>
        </p:blipFill>
        <p:spPr>
          <a:xfrm xmlns:a="http://schemas.openxmlformats.org/drawingml/2006/main">
            <a:off x="6267450" y="2090579"/>
            <a:ext cx="5543550" cy="3172143"/>
          </a:xfrm>
          <a:prstGeom xmlns:a="http://schemas.openxmlformats.org/drawingml/2006/main" prst="roundRect">
            <a:avLst>
              <a:gd name="adj" fmla="val 3689"/>
            </a:avLst>
          </a:prstGeom>
        </p:spPr>
      </p:pic>
      <p:sp>
        <p:nvSpPr>
          <p:cNvPr id="6" name="footer-label-7">
            <a:extLst xmlns:a="http://schemas.openxmlformats.org/drawingml/2006/main">
              <a:ext uri="{FF2B5EF4-FFF2-40B4-BE49-F238E27FC236}">
                <a16:creationId xmlns:a16="http://schemas.microsoft.com/office/drawing/2014/main" id="{AEA6368F-D6AF-4987-B5A3-C80B80A5F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2476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DESKPET PROJECT</a:t>
            </a:r>
          </a:p>
        </p:txBody>
      </p:sp>
      <p:sp>
        <p:nvSpPr>
          <p:cNvPr id="7" name="footer-number-7">
            <a:extLst xmlns:a="http://schemas.openxmlformats.org/drawingml/2006/main">
              <a:ext uri="{FF2B5EF4-FFF2-40B4-BE49-F238E27FC236}">
                <a16:creationId xmlns:a16="http://schemas.microsoft.com/office/drawing/2014/main" id="{7F1D73C2-7938-4E60-A5A0-5BAA949D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645766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8">
            <a:extLst xmlns:a="http://schemas.openxmlformats.org/drawingml/2006/main">
              <a:ext uri="{FF2B5EF4-FFF2-40B4-BE49-F238E27FC236}">
                <a16:creationId xmlns:a16="http://schemas.microsoft.com/office/drawing/2014/main" id="{EE68D712-F724-47D6-8144-C3D50725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核心能力已完成，发布链路已经跑通</a:t>
            </a:r>
          </a:p>
        </p:txBody>
      </p:sp>
      <p:sp>
        <p:nvSpPr>
          <p:cNvPr id="2" name="topic-8">
            <a:extLst xmlns:a="http://schemas.openxmlformats.org/drawingml/2006/main">
              <a:ext uri="{FF2B5EF4-FFF2-40B4-BE49-F238E27FC236}">
                <a16:creationId xmlns:a16="http://schemas.microsoft.com/office/drawing/2014/main" id="{A539BC9B-5A56-4CE7-B4F7-9F0CBBDA4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410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当前交付状态</a:t>
            </a:r>
          </a:p>
        </p:txBody>
      </p:sp>
      <p:sp>
        <p:nvSpPr>
          <p:cNvPr id="3" name="detail-8">
            <a:extLst xmlns:a="http://schemas.openxmlformats.org/drawingml/2006/main">
              <a:ext uri="{FF2B5EF4-FFF2-40B4-BE49-F238E27FC236}">
                <a16:creationId xmlns:a16="http://schemas.microsoft.com/office/drawing/2014/main" id="{10608C97-4F09-4920-92F8-F4410813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09750"/>
            <a:ext cx="114109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t>正式版 EXE 可直接运行，目标电脑无需安装 Python；自动化测试覆盖关键数据与恢复场景。</a:t>
            </a:r>
          </a:p>
        </p:txBody>
      </p:sp>
      <p:sp>
        <p:nvSpPr>
          <p:cNvPr id="4" name="metric-panel-8-1">
            <a:extLst xmlns:a="http://schemas.openxmlformats.org/drawingml/2006/main">
              <a:ext uri="{FF2B5EF4-FFF2-40B4-BE49-F238E27FC236}">
                <a16:creationId xmlns:a16="http://schemas.microsoft.com/office/drawing/2014/main" id="{4C766540-D8D2-43F3-8612-173D442B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19425"/>
            <a:ext cx="3571875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etric-panel-8-2">
            <a:extLst xmlns:a="http://schemas.openxmlformats.org/drawingml/2006/main">
              <a:ext uri="{FF2B5EF4-FFF2-40B4-BE49-F238E27FC236}">
                <a16:creationId xmlns:a16="http://schemas.microsoft.com/office/drawing/2014/main" id="{64C59579-01DA-410B-B344-A113FFFF8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019425"/>
            <a:ext cx="3571875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etric-panel-8-3">
            <a:extLst xmlns:a="http://schemas.openxmlformats.org/drawingml/2006/main">
              <a:ext uri="{FF2B5EF4-FFF2-40B4-BE49-F238E27FC236}">
                <a16:creationId xmlns:a16="http://schemas.microsoft.com/office/drawing/2014/main" id="{35FC8553-D8C1-4F9C-84F0-B8A9D142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19425"/>
            <a:ext cx="3571875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etric-value-8-1">
            <a:extLst xmlns:a="http://schemas.openxmlformats.org/drawingml/2006/main">
              <a:ext uri="{FF2B5EF4-FFF2-40B4-BE49-F238E27FC236}">
                <a16:creationId xmlns:a16="http://schemas.microsoft.com/office/drawing/2014/main" id="{FA9775AD-D5AE-4A99-B655-A17458A83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429000"/>
            <a:ext cx="29527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M1—M3</a:t>
            </a:r>
          </a:p>
        </p:txBody>
      </p:sp>
      <p:sp>
        <p:nvSpPr>
          <p:cNvPr id="8" name="metric-label-8-1">
            <a:extLst xmlns:a="http://schemas.openxmlformats.org/drawingml/2006/main">
              <a:ext uri="{FF2B5EF4-FFF2-40B4-BE49-F238E27FC236}">
                <a16:creationId xmlns:a16="http://schemas.microsoft.com/office/drawing/2014/main" id="{27935FE3-BB9D-4B0F-B94D-2BD38AE2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953000"/>
            <a:ext cx="29337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动画、物理养成、
工具控制面板已完成</a:t>
            </a:r>
          </a:p>
        </p:txBody>
      </p:sp>
      <p:sp>
        <p:nvSpPr>
          <p:cNvPr id="9" name="metric-value-8-2">
            <a:extLst xmlns:a="http://schemas.openxmlformats.org/drawingml/2006/main">
              <a:ext uri="{FF2B5EF4-FFF2-40B4-BE49-F238E27FC236}">
                <a16:creationId xmlns:a16="http://schemas.microsoft.com/office/drawing/2014/main" id="{ABB6D530-A189-4AE2-92AE-767D7B221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429000"/>
            <a:ext cx="29527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1 EXE</a:t>
            </a:r>
          </a:p>
        </p:txBody>
      </p:sp>
      <p:sp>
        <p:nvSpPr>
          <p:cNvPr id="10" name="metric-label-8-2">
            <a:extLst xmlns:a="http://schemas.openxmlformats.org/drawingml/2006/main">
              <a:ext uri="{FF2B5EF4-FFF2-40B4-BE49-F238E27FC236}">
                <a16:creationId xmlns:a16="http://schemas.microsoft.com/office/drawing/2014/main" id="{C7BEFACF-E0E7-48BC-ACB8-34766BEE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953000"/>
            <a:ext cx="29337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dist 目录直接交付
重复启动只保留单实例</a:t>
            </a:r>
          </a:p>
        </p:txBody>
      </p:sp>
      <p:sp>
        <p:nvSpPr>
          <p:cNvPr id="11" name="metric-value-8-3">
            <a:extLst xmlns:a="http://schemas.openxmlformats.org/drawingml/2006/main">
              <a:ext uri="{FF2B5EF4-FFF2-40B4-BE49-F238E27FC236}">
                <a16:creationId xmlns:a16="http://schemas.microsoft.com/office/drawing/2014/main" id="{DC49662E-573F-4644-9470-AF3625079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29000"/>
            <a:ext cx="29527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72h</a:t>
            </a:r>
          </a:p>
        </p:txBody>
      </p:sp>
      <p:sp>
        <p:nvSpPr>
          <p:cNvPr id="12" name="metric-label-8-3">
            <a:extLst xmlns:a="http://schemas.openxmlformats.org/drawingml/2006/main">
              <a:ext uri="{FF2B5EF4-FFF2-40B4-BE49-F238E27FC236}">
                <a16:creationId xmlns:a16="http://schemas.microsoft.com/office/drawing/2014/main" id="{F1442DCB-9408-431F-A899-4ED798221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953000"/>
            <a:ext cx="29337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离线养成补算上限
关键设置与成长数据持久化</a:t>
            </a:r>
          </a:p>
        </p:txBody>
      </p:sp>
      <p:sp>
        <p:nvSpPr>
          <p:cNvPr id="13" name="footer-label-8">
            <a:extLst xmlns:a="http://schemas.openxmlformats.org/drawingml/2006/main">
              <a:ext uri="{FF2B5EF4-FFF2-40B4-BE49-F238E27FC236}">
                <a16:creationId xmlns:a16="http://schemas.microsoft.com/office/drawing/2014/main" id="{310E4E02-B75E-4EB8-9632-0010F6081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2476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DESKPET PROJECT</a:t>
            </a:r>
          </a:p>
        </p:txBody>
      </p:sp>
      <p:sp>
        <p:nvSpPr>
          <p:cNvPr id="14" name="footer-number-8">
            <a:extLst xmlns:a="http://schemas.openxmlformats.org/drawingml/2006/main">
              <a:ext uri="{FF2B5EF4-FFF2-40B4-BE49-F238E27FC236}">
                <a16:creationId xmlns:a16="http://schemas.microsoft.com/office/drawing/2014/main" id="{67F4D4ED-32D8-4270-9C1C-4E4F93E73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303900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lose-supertitle">
            <a:extLst xmlns:a="http://schemas.openxmlformats.org/drawingml/2006/main">
              <a:ext uri="{FF2B5EF4-FFF2-40B4-BE49-F238E27FC236}">
                <a16:creationId xmlns:a16="http://schemas.microsoft.com/office/drawing/2014/main" id="{7545C08D-EA71-4798-AB67-D0646886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61531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下一阶段</a:t>
            </a:r>
          </a:p>
        </p:txBody>
      </p:sp>
      <p:sp>
        <p:nvSpPr>
          <p:cNvPr id="2" name="close-stage">
            <a:extLst xmlns:a="http://schemas.openxmlformats.org/drawingml/2006/main">
              <a:ext uri="{FF2B5EF4-FFF2-40B4-BE49-F238E27FC236}">
                <a16:creationId xmlns:a16="http://schemas.microsoft.com/office/drawing/2014/main" id="{FCE20665-EE48-4166-A84A-13D4488D7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0525"/>
            <a:ext cx="3905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M4 · 环境与智能</a:t>
            </a:r>
          </a:p>
        </p:txBody>
      </p:sp>
      <p:sp>
        <p:nvSpPr>
          <p:cNvPr id="3" name="close-title">
            <a:extLst xmlns:a="http://schemas.openxmlformats.org/drawingml/2006/main">
              <a:ext uri="{FF2B5EF4-FFF2-40B4-BE49-F238E27FC236}">
                <a16:creationId xmlns:a16="http://schemas.microsoft.com/office/drawing/2014/main" id="{79536F7E-68D4-4523-86E7-802DED33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571750"/>
            <a:ext cx="85725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让桌宠感知环境，
也能更聪明地陪伴。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fe72f5e7c7484f"/>
          <a:stretch xmlns:a="http://schemas.openxmlformats.org/drawingml/2006/main"/>
        </p:blipFill>
        <p:spPr>
          <a:xfrm xmlns:a="http://schemas.openxmlformats.org/drawingml/2006/main">
            <a:off x="9315450" y="3621367"/>
            <a:ext cx="2333625" cy="1377391"/>
          </a:xfrm>
          <a:prstGeom xmlns:a="http://schemas.openxmlformats.org/drawingml/2006/main" prst="rect">
            <a:avLst/>
          </a:prstGeom>
        </p:spPr>
      </p:pic>
      <p:sp>
        <p:nvSpPr>
          <p:cNvPr id="5" name="footer-label-9">
            <a:extLst xmlns:a="http://schemas.openxmlformats.org/drawingml/2006/main">
              <a:ext uri="{FF2B5EF4-FFF2-40B4-BE49-F238E27FC236}">
                <a16:creationId xmlns:a16="http://schemas.microsoft.com/office/drawing/2014/main" id="{8CB3360A-CF0E-47EA-B3C0-E8EAFBFB4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2476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DESKPET PROJECT</a:t>
            </a:r>
          </a:p>
        </p:txBody>
      </p:sp>
      <p:sp>
        <p:nvSpPr>
          <p:cNvPr id="6" name="footer-number-9">
            <a:extLst xmlns:a="http://schemas.openxmlformats.org/drawingml/2006/main">
              <a:ext uri="{FF2B5EF4-FFF2-40B4-BE49-F238E27FC236}">
                <a16:creationId xmlns:a16="http://schemas.microsoft.com/office/drawing/2014/main" id="{F9C2FEDF-2659-4748-9F6D-22D6E7718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203753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2026-08-14T03:09:04.0760000Z</dcterms:created>
  <dcterms:modified xsi:type="dcterms:W3CDTF">2026-08-14T03:09:04.0760000Z</dcterms:modified>
</coreProperties>
</file>